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365760" cy="381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4A2C"/>
                </a:solidFill>
                <a:latin typeface="Lato"/>
                <a:spc>
                  <a:spcPts val="500"/>
                </a:spc>
              </a:rPr>
              <a:t>YOUR AUDIENCE EMOTIONAL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41208"/>
                </a:solidFill>
                <a:latin typeface="Playfair Display"/>
              </a:rPr>
              <a:t>The full FFWA grid </a:t>
            </a:r>
            <a:r>
              <a:rPr sz="3400" b="1" i="1">
                <a:solidFill>
                  <a:srgbClr val="241208"/>
                </a:solidFill>
                <a:latin typeface="Playfair Display"/>
              </a:rPr>
              <a:t>at a glance.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5440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41208"/>
                </a:solidFill>
                <a:latin typeface="Playfair Display"/>
              </a:rPr>
              <a:t>Audience Emotional Landscape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44444"/>
                </a:solidFill>
                <a:latin typeface="Lato"/>
              </a:rPr>
              <a:t>Core Emotional Insights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03120"/>
          <a:ext cx="1119225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64"/>
                <a:gridCol w="2798064"/>
                <a:gridCol w="2798064"/>
                <a:gridCol w="2798064"/>
              </a:tblGrid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  <a:spc>
                            <a:spcPts val="300"/>
                          </a:spc>
                        </a:rPr>
                        <a:t>FEARS</a:t>
                      </a:r>
                    </a:p>
                  </a:txBody>
                  <a:tcPr anchor="ctr">
                    <a:solidFill>
                      <a:srgbClr val="F8F1E8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  <a:spc>
                            <a:spcPts val="300"/>
                          </a:spc>
                        </a:rPr>
                        <a:t>DESIRES</a:t>
                      </a:r>
                    </a:p>
                  </a:txBody>
                  <a:tcPr anchor="ctr">
                    <a:solidFill>
                      <a:srgbClr val="F8F1E8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  <a:spc>
                            <a:spcPts val="300"/>
                          </a:spc>
                        </a:rPr>
                        <a:t>ASPIRATIONS</a:t>
                      </a:r>
                    </a:p>
                  </a:txBody>
                  <a:tcPr anchor="ctr">
                    <a:solidFill>
                      <a:srgbClr val="F8F1E8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  <a:spc>
                            <a:spcPts val="300"/>
                          </a:spc>
                        </a:rPr>
                        <a:t>EMOTIONAL TRIGGERS</a:t>
                      </a:r>
                    </a:p>
                  </a:txBody>
                  <a:tcPr anchor="ctr">
                    <a:solidFill>
                      <a:srgbClr val="F8F1E8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The "Vanilla Trap"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– Terror that their story is boring, generic, or indistinguishable from everyone else's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be seen as uniquely brilliant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– Not just different, but genuinely remarkable in their field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build a legacy business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that outlasts trends and makes a meaningful impact on their industry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Seeing other </a:t>
                      </a: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"less qualified" entrepreneurs succeed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while they struggle in obscurity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The Overshare Spiral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– Paralyzing fear of crossing the line from authentic to TMI, ruining their professional reputation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Permission to be imperfect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and still be taken seriously as a business leader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become the go-to expert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that others seek out for advice and collaboration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Stories of breakthrough moments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where vulnerability led to business success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The Time Poverty Panic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– Anxiety that while they're figuring out storytelling, competitors are racing ahead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Effortless content creation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that feels natural and sustainable, not forced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scale beyond trading time for money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and build systems that work without constant input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Before/after transformations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that happened quickly and dramatically</a:t>
                      </a:r>
                    </a:p>
                  </a:txBody>
                  <a:tcPr anchor="t" marL="137160" marR="137160" marT="109728" marB="109728">
                    <a:solidFill>
                      <a:srgbClr val="FFFFFF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The Imposter's Spotlight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– Deep shame about not being "far enough along" to have a story worth telling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feel genuinely confident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in their expertise and right to take up space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To be invited to speak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at industry events and be recognized as a thought leader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sz="1400" b="1">
                          <a:solidFill>
                            <a:srgbClr val="241208"/>
                          </a:solidFill>
                          <a:latin typeface="Lato"/>
                        </a:rPr>
                        <a:t>Moments of external validation</a:t>
                      </a:r>
                      <a:r>
                        <a:rPr sz="1400">
                          <a:solidFill>
                            <a:srgbClr val="333333"/>
                          </a:solidFill>
                          <a:latin typeface="Lato"/>
                        </a:rPr>
                        <a:t> that confirm they're on the right path</a:t>
                      </a:r>
                    </a:p>
                  </a:txBody>
                  <a:tcPr anchor="t" marL="137160" marR="137160" marT="109728" marB="109728">
                    <a:solidFill>
                      <a:srgbClr val="FDFBF7"/>
                    </a:solidFill>
                    <a:lnL w="12700" cap="flat" cmpd="sng">
                      <a:solidFill>
                        <a:srgbClr val="E0D6C8"/>
                      </a:solidFill>
                    </a:lnL>
                    <a:lnR w="12700" cap="flat" cmpd="sng">
                      <a:solidFill>
                        <a:srgbClr val="E0D6C8"/>
                      </a:solidFill>
                    </a:lnR>
                    <a:lnT w="12700" cap="flat" cmpd="sng">
                      <a:solidFill>
                        <a:srgbClr val="E0D6C8"/>
                      </a:solidFill>
                    </a:lnT>
                    <a:lnB w="12700" cap="flat" cmpd="sng">
                      <a:solidFill>
                        <a:srgbClr val="E0D6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